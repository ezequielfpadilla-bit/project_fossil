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89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2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3E5-4421-BE3A-A29CC06A44FE}"/>
              </c:ext>
            </c:extLst>
          </c:dPt>
          <c:dPt>
            <c:idx val="1"/>
            <c:bubble3D val="0"/>
            <c:spPr>
              <a:solidFill>
                <a:srgbClr val="E69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E5-4421-BE3A-A29CC06A44FE}"/>
              </c:ext>
            </c:extLst>
          </c:dPt>
          <c:dPt>
            <c:idx val="2"/>
            <c:bubble3D val="0"/>
            <c:spPr>
              <a:solidFill>
                <a:srgbClr val="56B4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3E5-4421-BE3A-A29CC06A44FE}"/>
              </c:ext>
            </c:extLst>
          </c:dPt>
          <c:dPt>
            <c:idx val="3"/>
            <c:bubble3D val="0"/>
            <c:spPr>
              <a:solidFill>
                <a:srgbClr val="6666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3E5-4421-BE3A-A29CC06A44FE}"/>
              </c:ext>
            </c:extLst>
          </c:dPt>
          <c:cat>
            <c:strRef>
              <c:f>Sheet1!$A$2:$A$5</c:f>
              <c:strCache>
                <c:ptCount val="4"/>
                <c:pt idx="0">
                  <c:v>LLM (25)</c:v>
                </c:pt>
                <c:pt idx="1">
                  <c:v>Hybrid (44)</c:v>
                </c:pt>
                <c:pt idx="2">
                  <c:v>Human (25)</c:v>
                </c:pt>
                <c:pt idx="3">
                  <c:v>External (17)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44</c:v>
                </c:pt>
                <c:pt idx="2">
                  <c:v>25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3E5-4421-BE3A-A29CC06A44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653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DEFINITIONS (for presenter reference):
MLP: A Master Limited Partnership is a publicly traded partnership — not a corporation — that typically owns midstream oil &amp; gas infrastructure. Pass-through entity for tax: investors get K-1s, not 1099s. GP manages; limited partners hold publicly traded units.
S-1: SEC registration statement required to go public. Contains prospectus (narrative disclosure, financials, risk factors) and exhibits (legal opinions, material contracts, consents).
Scope: 111 work steps across 12 phases, 8 professional roles, from IPO trigger through SEC effectiveness. Precedent: Mach Natural Resources LP (S-1 filed 2023-09-22; 3 S-1/A amendments; effective 2023-10-24, 32 days). CIK 0001980088.
TIER DEFINITIONS:
LLM (22.5%, 25 steps): Senior reviewer accepts output with only minor, non-substantive edits.
Hybrid (39.6%, 44 steps): LLM produces draft; human makes material decisions on content, framing, or legal sufficiency.
Human (22.5%, 25 steps): Requires human judgment throughout the production activity.
External (15.3%, 17 steps): Performed by external party (SEC, FINRA, auditor, reserve engineer).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github.com/ezequielfpadilla-bit/Flowcharts/blob/main/MNR_S1_Cover_Memo_vT3.m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ezequielfpadilla-bit/Flowcharts" TargetMode="External"/><Relationship Id="rId5" Type="http://schemas.openxmlformats.org/officeDocument/2006/relationships/hyperlink" Target="https://github.com/ezequielfpadilla-bit/Flowcharts/blob/main/MNR_S1_Flowchart_Mermaid_vT3.md" TargetMode="Externa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3;p4">
            <a:extLst>
              <a:ext uri="{FF2B5EF4-FFF2-40B4-BE49-F238E27FC236}">
                <a16:creationId xmlns:a16="http://schemas.microsoft.com/office/drawing/2014/main" id="{71DA99A9-BE7F-E078-2A80-A1F3C943E1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67712" y="808188"/>
            <a:ext cx="2665804" cy="42752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S-1 Production Flowchart — Oil &amp; Gas MLP IPO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VDR Captain: Ezequiel Padilla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424140"/>
            <a:ext cx="8686800" cy="28346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3784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784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Hybrid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377440" y="451572"/>
            <a:ext cx="0" cy="25603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3784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3784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automatable steps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26280" y="451572"/>
            <a:ext cx="0" cy="25603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3784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424140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work steps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675120" y="451572"/>
            <a:ext cx="0" cy="25603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3784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89520" y="3784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roles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72331" y="77653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publicly traded partnership; pass-through tax (K-1s)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2331" y="97770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S-1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SEC registration statement; prospectus + exhibits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3636403190"/>
              </p:ext>
            </p:extLst>
          </p:nvPr>
        </p:nvGraphicFramePr>
        <p:xfrm>
          <a:off x="59787" y="1270310"/>
          <a:ext cx="18288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17"/>
          <p:cNvSpPr/>
          <p:nvPr/>
        </p:nvSpPr>
        <p:spPr>
          <a:xfrm>
            <a:off x="535275" y="186467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6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automatable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846381" y="1416614"/>
            <a:ext cx="128016" cy="128016"/>
          </a:xfrm>
          <a:prstGeom prst="ellipse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029261" y="138003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</a:t>
            </a: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 (25)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029261" y="156291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edits only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846381" y="1837238"/>
            <a:ext cx="128016" cy="128016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029261" y="180066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</a:t>
            </a: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39.6% (44)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029260" y="1983542"/>
            <a:ext cx="14257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draft + human review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846381" y="2257862"/>
            <a:ext cx="128016" cy="128016"/>
          </a:xfrm>
          <a:prstGeom prst="ellipse">
            <a:avLst/>
          </a:prstGeom>
          <a:solidFill>
            <a:srgbClr val="56B4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029261" y="222128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</a:t>
            </a: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 (25)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029261" y="240416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human judgment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Shape 27"/>
          <p:cNvSpPr/>
          <p:nvPr/>
        </p:nvSpPr>
        <p:spPr>
          <a:xfrm>
            <a:off x="1846381" y="2678486"/>
            <a:ext cx="128016" cy="128016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029261" y="264191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</a:t>
            </a: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 (17)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029261" y="282479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SEC, auditor, engineer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Text 30"/>
          <p:cNvSpPr/>
          <p:nvPr/>
        </p:nvSpPr>
        <p:spPr>
          <a:xfrm>
            <a:off x="158263" y="330309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BY PHASE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58263" y="3522550"/>
            <a:ext cx="512064" cy="475488"/>
          </a:xfrm>
          <a:prstGeom prst="rect">
            <a:avLst/>
          </a:prstGeom>
          <a:solidFill>
            <a:srgbClr val="5A9BC4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5" name="Text 32"/>
          <p:cNvSpPr/>
          <p:nvPr/>
        </p:nvSpPr>
        <p:spPr>
          <a:xfrm>
            <a:off x="158263" y="3522550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D4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06903" y="3522550"/>
            <a:ext cx="512064" cy="47548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7" name="Text 34"/>
          <p:cNvSpPr/>
          <p:nvPr/>
        </p:nvSpPr>
        <p:spPr>
          <a:xfrm>
            <a:off x="706903" y="3522550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1255543" y="3522550"/>
            <a:ext cx="512064" cy="475488"/>
          </a:xfrm>
          <a:prstGeom prst="rect">
            <a:avLst/>
          </a:prstGeom>
          <a:solidFill>
            <a:srgbClr val="2E87B8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9" name="Text 36"/>
          <p:cNvSpPr/>
          <p:nvPr/>
        </p:nvSpPr>
        <p:spPr>
          <a:xfrm>
            <a:off x="1255543" y="3522550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D4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Struct.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804183" y="3522550"/>
            <a:ext cx="512064" cy="475488"/>
          </a:xfrm>
          <a:prstGeom prst="rect">
            <a:avLst/>
          </a:prstGeom>
          <a:solidFill>
            <a:srgbClr val="8AB4D6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1" name="Text 38"/>
          <p:cNvSpPr/>
          <p:nvPr/>
        </p:nvSpPr>
        <p:spPr>
          <a:xfrm>
            <a:off x="1804183" y="3522550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D4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352823" y="3522550"/>
            <a:ext cx="512064" cy="475488"/>
          </a:xfrm>
          <a:prstGeom prst="rect">
            <a:avLst/>
          </a:prstGeom>
          <a:solidFill>
            <a:srgbClr val="2E87B8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3" name="Text 40"/>
          <p:cNvSpPr/>
          <p:nvPr/>
        </p:nvSpPr>
        <p:spPr>
          <a:xfrm>
            <a:off x="2352823" y="3522550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D4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Gov.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901463" y="3522550"/>
            <a:ext cx="512064" cy="475488"/>
          </a:xfrm>
          <a:prstGeom prst="rect">
            <a:avLst/>
          </a:prstGeom>
          <a:solidFill>
            <a:srgbClr val="C4C4C4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5" name="Text 42"/>
          <p:cNvSpPr/>
          <p:nvPr/>
        </p:nvSpPr>
        <p:spPr>
          <a:xfrm>
            <a:off x="2901463" y="3522550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Financ.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158263" y="4043758"/>
            <a:ext cx="512064" cy="475488"/>
          </a:xfrm>
          <a:prstGeom prst="rect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7" name="Text 44"/>
          <p:cNvSpPr/>
          <p:nvPr/>
        </p:nvSpPr>
        <p:spPr>
          <a:xfrm>
            <a:off x="158263" y="4043758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D4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706903" y="4043758"/>
            <a:ext cx="512064" cy="475488"/>
          </a:xfrm>
          <a:prstGeom prst="rect">
            <a:avLst/>
          </a:prstGeom>
          <a:solidFill>
            <a:srgbClr val="2E87B8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9" name="Text 46"/>
          <p:cNvSpPr/>
          <p:nvPr/>
        </p:nvSpPr>
        <p:spPr>
          <a:xfrm>
            <a:off x="706903" y="4043758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D4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1255543" y="4043758"/>
            <a:ext cx="512064" cy="475488"/>
          </a:xfrm>
          <a:prstGeom prst="rect">
            <a:avLst/>
          </a:prstGeom>
          <a:solidFill>
            <a:srgbClr val="2E87B8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1" name="Text 48"/>
          <p:cNvSpPr/>
          <p:nvPr/>
        </p:nvSpPr>
        <p:spPr>
          <a:xfrm>
            <a:off x="1255543" y="4043758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D4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Rev.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1804183" y="4043758"/>
            <a:ext cx="512064" cy="475488"/>
          </a:xfrm>
          <a:prstGeom prst="rect">
            <a:avLst/>
          </a:prstGeom>
          <a:solidFill>
            <a:srgbClr val="5A9BC4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3" name="Text 50"/>
          <p:cNvSpPr/>
          <p:nvPr/>
        </p:nvSpPr>
        <p:spPr>
          <a:xfrm>
            <a:off x="1804183" y="4043758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D4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FINRA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2352823" y="4043758"/>
            <a:ext cx="512064" cy="475488"/>
          </a:xfrm>
          <a:prstGeom prst="rect">
            <a:avLst/>
          </a:prstGeom>
          <a:solidFill>
            <a:srgbClr val="8AB4D6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5" name="Text 52"/>
          <p:cNvSpPr/>
          <p:nvPr/>
        </p:nvSpPr>
        <p:spPr>
          <a:xfrm>
            <a:off x="2352823" y="4043758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P11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D4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Mktg.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901463" y="4043758"/>
            <a:ext cx="512064" cy="47548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7" name="Text 54"/>
          <p:cNvSpPr/>
          <p:nvPr/>
        </p:nvSpPr>
        <p:spPr>
          <a:xfrm>
            <a:off x="2901463" y="4043758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P12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Effect.</a:t>
            </a:r>
            <a:endParaRPr lang="en-US" sz="9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58263" y="4601542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LLM+Hybrid %:  </a:t>
            </a:r>
            <a:r>
              <a:rPr lang="en-US" sz="1000" dirty="0">
                <a:solidFill>
                  <a:srgbClr val="D9D9D9"/>
                </a:solidFill>
              </a:rPr>
              <a:t>■</a:t>
            </a:r>
            <a:r>
              <a:rPr lang="en-US" sz="900" dirty="0">
                <a:solidFill>
                  <a:srgbClr val="888888"/>
                </a:solidFill>
              </a:rPr>
              <a:t> 0  </a:t>
            </a:r>
            <a:r>
              <a:rPr lang="en-US" sz="1000" dirty="0">
                <a:solidFill>
                  <a:srgbClr val="5A9BC4"/>
                </a:solidFill>
              </a:rPr>
              <a:t>■</a:t>
            </a:r>
            <a:r>
              <a:rPr lang="en-US" sz="900" dirty="0">
                <a:solidFill>
                  <a:srgbClr val="888888"/>
                </a:solidFill>
              </a:rPr>
              <a:t> mid  </a:t>
            </a:r>
            <a:r>
              <a:rPr lang="en-US" sz="1000" dirty="0">
                <a:solidFill>
                  <a:srgbClr val="0072B2"/>
                </a:solidFill>
              </a:rPr>
              <a:t>■</a:t>
            </a:r>
            <a:r>
              <a:rPr lang="en-US" sz="900" dirty="0">
                <a:solidFill>
                  <a:srgbClr val="888888"/>
                </a:solidFill>
              </a:rPr>
              <a:t> high</a:t>
            </a:r>
            <a:endParaRPr lang="en-US" sz="900" dirty="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03D13CB-DDC8-530E-8EC2-CB2DA29BAC7B}"/>
              </a:ext>
            </a:extLst>
          </p:cNvPr>
          <p:cNvGrpSpPr/>
          <p:nvPr/>
        </p:nvGrpSpPr>
        <p:grpSpPr>
          <a:xfrm>
            <a:off x="4716195" y="1286491"/>
            <a:ext cx="784271" cy="241261"/>
            <a:chOff x="4777740" y="1627632"/>
            <a:chExt cx="662940" cy="241261"/>
          </a:xfrm>
        </p:grpSpPr>
        <p:sp>
          <p:nvSpPr>
            <p:cNvPr id="61" name="Shape 58"/>
            <p:cNvSpPr/>
            <p:nvPr/>
          </p:nvSpPr>
          <p:spPr>
            <a:xfrm>
              <a:off x="4782312" y="1627632"/>
              <a:ext cx="658368" cy="237744"/>
            </a:xfrm>
            <a:prstGeom prst="roundRect">
              <a:avLst>
                <a:gd name="adj" fmla="val 19231"/>
              </a:avLst>
            </a:prstGeom>
            <a:solidFill>
              <a:srgbClr val="0072B2"/>
            </a:solidFill>
            <a:ln/>
          </p:spPr>
          <p:txBody>
            <a:bodyPr/>
            <a:lstStyle/>
            <a:p>
              <a:endParaRPr lang="en-US" sz="1100"/>
            </a:p>
          </p:txBody>
        </p:sp>
        <p:sp>
          <p:nvSpPr>
            <p:cNvPr id="62" name="Text 59">
              <a:hlinkClick r:id="rId5"/>
            </p:cNvPr>
            <p:cNvSpPr/>
            <p:nvPr/>
          </p:nvSpPr>
          <p:spPr>
            <a:xfrm>
              <a:off x="4777740" y="1631149"/>
              <a:ext cx="6583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u="sng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Flowchart</a:t>
              </a:r>
              <a:endParaRPr lang="en-US" sz="1100" dirty="0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1FC402B-3032-D0CE-CC93-ECF0DEB8A39C}"/>
              </a:ext>
            </a:extLst>
          </p:cNvPr>
          <p:cNvGrpSpPr/>
          <p:nvPr/>
        </p:nvGrpSpPr>
        <p:grpSpPr>
          <a:xfrm>
            <a:off x="4756642" y="1720126"/>
            <a:ext cx="661534" cy="237744"/>
            <a:chOff x="4864608" y="2048959"/>
            <a:chExt cx="661534" cy="237744"/>
          </a:xfrm>
        </p:grpSpPr>
        <p:sp>
          <p:nvSpPr>
            <p:cNvPr id="63" name="Shape 60"/>
            <p:cNvSpPr/>
            <p:nvPr/>
          </p:nvSpPr>
          <p:spPr>
            <a:xfrm>
              <a:off x="4864608" y="2048959"/>
              <a:ext cx="658368" cy="237744"/>
            </a:xfrm>
            <a:prstGeom prst="roundRect">
              <a:avLst>
                <a:gd name="adj" fmla="val 19231"/>
              </a:avLst>
            </a:prstGeom>
            <a:solidFill>
              <a:srgbClr val="0072B2"/>
            </a:solidFill>
            <a:ln/>
          </p:spPr>
          <p:txBody>
            <a:bodyPr/>
            <a:lstStyle/>
            <a:p>
              <a:endParaRPr lang="en-US" sz="1000"/>
            </a:p>
          </p:txBody>
        </p:sp>
        <p:sp>
          <p:nvSpPr>
            <p:cNvPr id="64" name="Text 61">
              <a:hlinkClick r:id="rId6"/>
            </p:cNvPr>
            <p:cNvSpPr/>
            <p:nvPr/>
          </p:nvSpPr>
          <p:spPr>
            <a:xfrm>
              <a:off x="4867774" y="2048959"/>
              <a:ext cx="6583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u="sng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RACI</a:t>
              </a:r>
              <a:endParaRPr lang="en-US" sz="100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2B2C045-0F86-AAD0-ACEE-1AC896221914}"/>
              </a:ext>
            </a:extLst>
          </p:cNvPr>
          <p:cNvGrpSpPr/>
          <p:nvPr/>
        </p:nvGrpSpPr>
        <p:grpSpPr>
          <a:xfrm>
            <a:off x="4742671" y="2190336"/>
            <a:ext cx="658368" cy="237744"/>
            <a:chOff x="5161788" y="4553712"/>
            <a:chExt cx="658368" cy="237744"/>
          </a:xfrm>
        </p:grpSpPr>
        <p:sp>
          <p:nvSpPr>
            <p:cNvPr id="65" name="Shape 62"/>
            <p:cNvSpPr/>
            <p:nvPr/>
          </p:nvSpPr>
          <p:spPr>
            <a:xfrm>
              <a:off x="5161788" y="4553712"/>
              <a:ext cx="658368" cy="237744"/>
            </a:xfrm>
            <a:prstGeom prst="roundRect">
              <a:avLst>
                <a:gd name="adj" fmla="val 19231"/>
              </a:avLst>
            </a:prstGeom>
            <a:solidFill>
              <a:srgbClr val="0072B2"/>
            </a:solidFill>
            <a:ln/>
          </p:spPr>
          <p:txBody>
            <a:bodyPr/>
            <a:lstStyle/>
            <a:p>
              <a:endParaRPr lang="en-US" sz="1000"/>
            </a:p>
          </p:txBody>
        </p:sp>
        <p:sp>
          <p:nvSpPr>
            <p:cNvPr id="66" name="Text 63">
              <a:hlinkClick r:id="rId7"/>
            </p:cNvPr>
            <p:cNvSpPr/>
            <p:nvPr/>
          </p:nvSpPr>
          <p:spPr>
            <a:xfrm>
              <a:off x="5161788" y="4553712"/>
              <a:ext cx="65836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u="sng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Memo</a:t>
              </a:r>
              <a:endParaRPr lang="en-US" sz="1000" dirty="0"/>
            </a:p>
          </p:txBody>
        </p:sp>
      </p:grpSp>
      <p:sp>
        <p:nvSpPr>
          <p:cNvPr id="67" name="Text 64"/>
          <p:cNvSpPr/>
          <p:nvPr/>
        </p:nvSpPr>
        <p:spPr>
          <a:xfrm>
            <a:off x="6207371" y="8961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(8)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6207371" y="1207008"/>
            <a:ext cx="155448" cy="128016"/>
          </a:xfrm>
          <a:prstGeom prst="rect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6426827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Counsel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8264771" y="11704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6207371" y="1463040"/>
            <a:ext cx="155448" cy="128016"/>
          </a:xfrm>
          <a:prstGeom prst="rect">
            <a:avLst/>
          </a:prstGeom>
          <a:solidFill>
            <a:srgbClr val="E69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6426827" y="1426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 (Mgmt)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8264771" y="14264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6207371" y="1719072"/>
            <a:ext cx="155448" cy="128016"/>
          </a:xfrm>
          <a:prstGeom prst="rect">
            <a:avLst/>
          </a:prstGeom>
          <a:solidFill>
            <a:srgbClr val="009E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6426827" y="1682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Underwriters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8264771" y="16824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6207371" y="1975104"/>
            <a:ext cx="155448" cy="128016"/>
          </a:xfrm>
          <a:prstGeom prst="rect">
            <a:avLst/>
          </a:prstGeom>
          <a:solidFill>
            <a:srgbClr val="F0E4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6426827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 Counsel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8264771" y="1938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6207371" y="2231136"/>
            <a:ext cx="155448" cy="128016"/>
          </a:xfrm>
          <a:prstGeom prst="rect">
            <a:avLst/>
          </a:prstGeom>
          <a:solidFill>
            <a:srgbClr val="56B4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8"/>
          <p:cNvSpPr/>
          <p:nvPr/>
        </p:nvSpPr>
        <p:spPr>
          <a:xfrm>
            <a:off x="6426827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Accountants</a:t>
            </a:r>
            <a:endParaRPr lang="en-US" sz="1000" dirty="0"/>
          </a:p>
        </p:txBody>
      </p:sp>
      <p:sp>
        <p:nvSpPr>
          <p:cNvPr id="82" name="Text 79"/>
          <p:cNvSpPr/>
          <p:nvPr/>
        </p:nvSpPr>
        <p:spPr>
          <a:xfrm>
            <a:off x="8264771" y="21945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6207371" y="2487168"/>
            <a:ext cx="155448" cy="128016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6426827" y="2450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Engineer</a:t>
            </a:r>
            <a:endParaRPr lang="en-US" sz="1000" dirty="0"/>
          </a:p>
        </p:txBody>
      </p:sp>
      <p:sp>
        <p:nvSpPr>
          <p:cNvPr id="85" name="Text 82"/>
          <p:cNvSpPr/>
          <p:nvPr/>
        </p:nvSpPr>
        <p:spPr>
          <a:xfrm>
            <a:off x="8264771" y="2450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6207371" y="2743200"/>
            <a:ext cx="155448" cy="128016"/>
          </a:xfrm>
          <a:prstGeom prst="rect">
            <a:avLst/>
          </a:prstGeom>
          <a:solidFill>
            <a:srgbClr val="CC7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4"/>
          <p:cNvSpPr/>
          <p:nvPr/>
        </p:nvSpPr>
        <p:spPr>
          <a:xfrm>
            <a:off x="6426827" y="27066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Counsel</a:t>
            </a:r>
            <a:endParaRPr lang="en-US" sz="1000" dirty="0"/>
          </a:p>
        </p:txBody>
      </p:sp>
      <p:sp>
        <p:nvSpPr>
          <p:cNvPr id="88" name="Text 85"/>
          <p:cNvSpPr/>
          <p:nvPr/>
        </p:nvSpPr>
        <p:spPr>
          <a:xfrm>
            <a:off x="8264771" y="27066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6207371" y="2999232"/>
            <a:ext cx="155448" cy="128016"/>
          </a:xfrm>
          <a:prstGeom prst="rect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6426827" y="29626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SEC/FINRA/Exch</a:t>
            </a:r>
            <a:endParaRPr lang="en-US" sz="1000" dirty="0"/>
          </a:p>
        </p:txBody>
      </p:sp>
      <p:sp>
        <p:nvSpPr>
          <p:cNvPr id="91" name="Text 88"/>
          <p:cNvSpPr/>
          <p:nvPr/>
        </p:nvSpPr>
        <p:spPr>
          <a:xfrm>
            <a:off x="8264771" y="29626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92" name="Text 89"/>
          <p:cNvSpPr/>
          <p:nvPr/>
        </p:nvSpPr>
        <p:spPr>
          <a:xfrm>
            <a:off x="6207371" y="3459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6207371" y="3715280"/>
            <a:ext cx="1399032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6262235" y="3715280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7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DRS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draft reg.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7661267" y="3715280"/>
            <a:ext cx="1399032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3"/>
          <p:cNvSpPr/>
          <p:nvPr/>
        </p:nvSpPr>
        <p:spPr>
          <a:xfrm>
            <a:off x="7716131" y="3715280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E69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VDR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data room (diligence)</a:t>
            </a:r>
            <a:endParaRPr lang="en-US" sz="1000" dirty="0"/>
          </a:p>
        </p:txBody>
      </p:sp>
      <p:sp>
        <p:nvSpPr>
          <p:cNvPr id="97" name="Shape 94"/>
          <p:cNvSpPr/>
          <p:nvPr/>
        </p:nvSpPr>
        <p:spPr>
          <a:xfrm>
            <a:off x="6207371" y="4135904"/>
            <a:ext cx="1399032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5"/>
          <p:cNvSpPr/>
          <p:nvPr/>
        </p:nvSpPr>
        <p:spPr>
          <a:xfrm>
            <a:off x="6262235" y="4135904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7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S-1/A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amendment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7661267" y="4135904"/>
            <a:ext cx="1399032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7"/>
          <p:cNvSpPr/>
          <p:nvPr/>
        </p:nvSpPr>
        <p:spPr>
          <a:xfrm>
            <a:off x="7716131" y="4135904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56B4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Comfort letter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 verification</a:t>
            </a:r>
            <a:endParaRPr lang="en-US" sz="1000" dirty="0"/>
          </a:p>
        </p:txBody>
      </p:sp>
      <p:sp>
        <p:nvSpPr>
          <p:cNvPr id="101" name="Shape 98"/>
          <p:cNvSpPr/>
          <p:nvPr/>
        </p:nvSpPr>
        <p:spPr>
          <a:xfrm>
            <a:off x="6207371" y="4556528"/>
            <a:ext cx="1399032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9"/>
          <p:cNvSpPr/>
          <p:nvPr/>
        </p:nvSpPr>
        <p:spPr>
          <a:xfrm>
            <a:off x="6262235" y="4556528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7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CORRESP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response letter</a:t>
            </a:r>
            <a:endParaRPr lang="en-US" sz="1000" dirty="0"/>
          </a:p>
        </p:txBody>
      </p:sp>
      <p:sp>
        <p:nvSpPr>
          <p:cNvPr id="103" name="Shape 100"/>
          <p:cNvSpPr/>
          <p:nvPr/>
        </p:nvSpPr>
        <p:spPr>
          <a:xfrm>
            <a:off x="7661267" y="4556528"/>
            <a:ext cx="1399032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1"/>
          <p:cNvSpPr/>
          <p:nvPr/>
        </p:nvSpPr>
        <p:spPr>
          <a:xfrm>
            <a:off x="7716131" y="4556528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7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11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Securities Act liability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451</Words>
  <Application>Microsoft Office PowerPoint</Application>
  <PresentationFormat>On-screen Show (16:9)</PresentationFormat>
  <Paragraphs>95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Consolas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S-1 Production Flowchart — Oil &amp; Gas MLP IPO</dc:title>
  <dc:subject>PptxGenJS Presentation</dc:subject>
  <dc:creator>Ezequiel Padilla</dc:creator>
  <cp:lastModifiedBy>Ezequiel Padilla</cp:lastModifiedBy>
  <cp:revision>2</cp:revision>
  <dcterms:created xsi:type="dcterms:W3CDTF">2026-02-26T18:00:15Z</dcterms:created>
  <dcterms:modified xsi:type="dcterms:W3CDTF">2026-02-26T18:14:57Z</dcterms:modified>
</cp:coreProperties>
</file>